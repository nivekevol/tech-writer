
<file path=[Content_Types].xml><?xml version="1.0" encoding="utf-8"?>
<Types xmlns="http://schemas.openxmlformats.org/package/2006/content-types">
  <Default ContentType="application/x-fontdata" Extension="fntdata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aveSubsetFonts="1" strictFirstAndLastChars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Source Sans Pro"/>
      <p:regular r:id="rId23"/>
      <p:bold r:id="rId24"/>
      <p:italic r:id="rId25"/>
      <p:boldItalic r:id="rId26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d="100" n="100"/>
          <a:sy d="100" n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6" Target="fonts/SourceSansPro-boldItalic.fntdata" Type="http://schemas.openxmlformats.org/officeDocument/2006/relationships/font"/><Relationship Id="rId25" Target="fonts/SourceSansPro-italic.fntdata" Type="http://schemas.openxmlformats.org/officeDocument/2006/relationships/font"/><Relationship Id="rId24" Target="fonts/SourceSansPro-bold.fntdata" Type="http://schemas.openxmlformats.org/officeDocument/2006/relationships/font"/><Relationship Id="rId21" Target="fonts/Roboto-italic.fntdata" Type="http://schemas.openxmlformats.org/officeDocument/2006/relationships/font"/><Relationship Id="rId19" Target="fonts/Roboto-regular.fntdata" Type="http://schemas.openxmlformats.org/officeDocument/2006/relationships/font"/><Relationship Id="rId20" Target="fonts/Roboto-bold.fntdata" Type="http://schemas.openxmlformats.org/officeDocument/2006/relationships/font"/><Relationship Id="rId18" Target="fonts/Raleway-boldItalic.fntdata" Type="http://schemas.openxmlformats.org/officeDocument/2006/relationships/font"/><Relationship Id="rId17" Target="fonts/Raleway-italic.fntdata" Type="http://schemas.openxmlformats.org/officeDocument/2006/relationships/font"/><Relationship Id="rId16" Target="fonts/Raleway-bold.fntdata" Type="http://schemas.openxmlformats.org/officeDocument/2006/relationships/font"/><Relationship Id="rId15" Target="fonts/Raleway-regular.fntdata" Type="http://schemas.openxmlformats.org/officeDocument/2006/relationships/font"/><Relationship Id="rId14" Target="slides/slide9.xml" Type="http://schemas.openxmlformats.org/officeDocument/2006/relationships/slide"/><Relationship Id="rId13" Target="slides/slide8.xml" Type="http://schemas.openxmlformats.org/officeDocument/2006/relationships/slide"/><Relationship Id="rId12" Target="slides/slide7.xml" Type="http://schemas.openxmlformats.org/officeDocument/2006/relationships/slide"/><Relationship Id="rId11" Target="slides/slide6.xml" Type="http://schemas.openxmlformats.org/officeDocument/2006/relationships/slide"/><Relationship Id="rId10" Target="slides/slide5.xml" Type="http://schemas.openxmlformats.org/officeDocument/2006/relationships/slide"/><Relationship Id="rId9" Target="slides/slide4.xml" Type="http://schemas.openxmlformats.org/officeDocument/2006/relationships/slide"/><Relationship Id="rId8" Target="slides/slide3.xml" Type="http://schemas.openxmlformats.org/officeDocument/2006/relationships/slide"/><Relationship Id="rId7" Target="slides/slide2.xml" Type="http://schemas.openxmlformats.org/officeDocument/2006/relationships/slide"/><Relationship Id="rId6" Target="slides/slide1.xml" Type="http://schemas.openxmlformats.org/officeDocument/2006/relationships/slide"/><Relationship Id="rId5" Target="notesMasters/notesMaster1.xml" Type="http://schemas.openxmlformats.org/officeDocument/2006/relationships/notesMaster"/><Relationship Id="rId4" Target="slideMasters/slideMaster1.xml" Type="http://schemas.openxmlformats.org/officeDocument/2006/relationships/slideMaster"/><Relationship Id="rId3" Target="presProps.xml" Type="http://schemas.openxmlformats.org/officeDocument/2006/relationships/presProps"/><Relationship Id="rId23" Target="fonts/SourceSansPro-regular.fntdata" Type="http://schemas.openxmlformats.org/officeDocument/2006/relationships/font"/><Relationship Id="rId2" Target="viewProps.xml" Type="http://schemas.openxmlformats.org/officeDocument/2006/relationships/viewProps"/><Relationship Id="rId22" Target="fonts/Roboto-boldItalic.fntdata" Type="http://schemas.openxmlformats.org/officeDocument/2006/relationships/font"/><Relationship Id="rId1" Target="theme/theme1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indent="-3175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indent="-3175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indent="-317500" lvl="2" marL="1371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indent="-317500" lvl="3" marL="1828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indent="-317500" lvl="4" marL="22860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indent="-317500" lvl="5" marL="2743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indent="-317500" lvl="6" marL="3200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indent="-317500" lvl="7" marL="3657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indent="-317500" lvl="8" marL="4114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cap="none" i="0" strike="noStrike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folHlink="folHlink" hlink="hlink" tx1="dk1" tx2="lt2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2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3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4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5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6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7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8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9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cap="none" i="0" strike="noStrike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cap="none" i="0" strike="noStrike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type="none" w="sm"/>
            <a:tailEnd len="sm" type="none" w="sm"/>
          </a:ln>
        </p:spPr>
      </p:cxnSp>
      <p:sp>
        <p:nvSpPr>
          <p:cNvPr id="20" name="Google Shape;20;p4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l"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algn="l"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algn="l"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algn="l"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algn="l"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algn="l"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algn="l"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algn="l"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algn="l"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algn="l"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algn="l"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algn="l"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algn="l"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algn="l"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algn="l"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algn="l"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algn="l"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algn="l"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algn="l"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algn="l"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algn="l"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algn="l"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algn="l"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algn="l"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algn="l"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cap="none" i="0" strike="noStrike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algn="l"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algn="l"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algn="l"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algn="l"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algn="l"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algn="l"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algn="l"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algn="l"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algn="l"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algn="l"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algn="l"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algn="l"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algn="l"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algn="l"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algn="l"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algn="l"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cap="none" i="0" strike="noStrike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ctr"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algn="ctr"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algn="ctr"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algn="ctr"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algn="ctr"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algn="ctr"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algn="ctr"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algn="ctr"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algn="ctr"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cap="none" i="0" strike="noStrike" sz="3000" u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algn="l" indent="-342900" lvl="0" marL="4572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b="0" cap="none" i="0" strike="noStrike" sz="18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l" indent="-317500" lvl="1" marL="914400" marR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l" indent="-317500" lvl="2" marL="1371600" marR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l" indent="-317500" lvl="3" marL="1828800" marR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l" indent="-317500" lvl="4" marL="2286000" marR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l" indent="-317500" lvl="5" marL="2743200" marR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l" indent="-317500" lvl="6" marL="3200400" marR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l" indent="-317500" lvl="7" marL="3657600" marR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l" indent="-317500" lvl="8" marL="4114800" marR="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 b="0" cap="none" i="0" strike="noStrike" sz="14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i="0" strike="noStrike" sz="1000" u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"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" Target="../notesSlides/notesSlide1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notesSlides/notesSlide2.xml" Type="http://schemas.openxmlformats.org/officeDocument/2006/relationships/notesSlid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3" Target="../media/image8.png" Type="http://schemas.openxmlformats.org/officeDocument/2006/relationships/image"/><Relationship Id="rId2" Target="../notesSlides/notesSlide4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3" Target="../media/image9.png" Type="http://schemas.openxmlformats.org/officeDocument/2006/relationships/image"/><Relationship Id="rId2" Target="../notesSlides/notesSlide5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3" Target="../media/image4.png" Type="http://schemas.openxmlformats.org/officeDocument/2006/relationships/image"/><Relationship Id="rId2" Target="../notesSlides/notesSlide6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3" Target="../media/image6.jpg" Type="http://schemas.openxmlformats.org/officeDocument/2006/relationships/image"/><Relationship Id="rId2" Target="../notesSlides/notesSlide7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5" Target="../media/image7.png" Type="http://schemas.openxmlformats.org/officeDocument/2006/relationships/image"/><Relationship Id="rId4" Target="../media/image10.png" Type="http://schemas.openxmlformats.org/officeDocument/2006/relationships/image"/><Relationship Id="rId3" Target="../media/image2.jpg" Type="http://schemas.openxmlformats.org/officeDocument/2006/relationships/image"/><Relationship Id="rId2" Target="../notesSlides/notesSlide8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3" Target="../media/image5.jpg" Type="http://schemas.openxmlformats.org/officeDocument/2006/relationships/image"/><Relationship Id="rId2" Target="../notesSlides/notesSlide9.xml" Type="http://schemas.openxmlformats.org/officeDocument/2006/relationships/notesSlide"/><Relationship Id="rId1" Target="../slideLayouts/slideLayout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3452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altLang="en" lang="en"/>
              <a:t>IoT 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altLang="en" lang="en"/>
              <a:t>IoT Course Overview</a:t>
            </a:r>
            <a:endParaRPr/>
          </a:p>
        </p:txBody>
      </p:sp>
      <p:cxnSp>
        <p:nvCxnSpPr>
          <p:cNvPr id="65" name="Google Shape;65;p14"/>
          <p:cNvCxnSpPr/>
          <p:nvPr/>
        </p:nvCxnSpPr>
        <p:spPr>
          <a:xfrm>
            <a:off x="420075" y="2790116"/>
            <a:ext cx="833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type="none" w="sm"/>
            <a:tailEnd len="sm" type="none" w="sm"/>
          </a:ln>
        </p:spPr>
      </p:cxnSp>
      <p:grpSp>
        <p:nvGrpSpPr>
          <p:cNvPr id="66" name="Google Shape;66;p14"/>
          <p:cNvGrpSpPr/>
          <p:nvPr/>
        </p:nvGrpSpPr>
        <p:grpSpPr>
          <a:xfrm>
            <a:off x="648675" y="1581271"/>
            <a:ext cx="196200" cy="1306800"/>
            <a:chOff x="648675" y="1657471"/>
            <a:chExt cx="196200" cy="1306800"/>
          </a:xfrm>
        </p:grpSpPr>
        <p:sp>
          <p:nvSpPr>
            <p:cNvPr id="67" name="Google Shape;67;p14"/>
            <p:cNvSpPr/>
            <p:nvPr/>
          </p:nvSpPr>
          <p:spPr>
            <a:xfrm>
              <a:off x="6486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cap="none" i="0" strike="noStrike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" name="Google Shape;68;p14"/>
            <p:cNvCxnSpPr>
              <a:stCxn id="67" idx="0"/>
            </p:cNvCxnSpPr>
            <p:nvPr/>
          </p:nvCxnSpPr>
          <p:spPr>
            <a:xfrm rot="10800000">
              <a:off x="746775" y="1657471"/>
              <a:ext cx="0" cy="111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type="none" w="sm"/>
              <a:tailEnd len="med" type="oval" w="med"/>
            </a:ln>
          </p:spPr>
        </p:cxnSp>
      </p:grpSp>
      <p:sp>
        <p:nvSpPr>
          <p:cNvPr id="69" name="Google Shape;69;p14"/>
          <p:cNvSpPr txBox="1"/>
          <p:nvPr>
            <p:ph idx="2147483647" type="body"/>
          </p:nvPr>
        </p:nvSpPr>
        <p:spPr>
          <a:xfrm>
            <a:off x="844880" y="1270025"/>
            <a:ext cx="2662200" cy="971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b="1" lang="en">
                <a:solidFill>
                  <a:schemeClr val="dk2"/>
                </a:solidFill>
              </a:rPr>
              <a:t>What is IoT?</a:t>
            </a:r>
            <a:endParaRPr b="1">
              <a:solidFill>
                <a:schemeClr val="dk2"/>
              </a:solidFill>
            </a:endParaRPr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grpSp>
        <p:nvGrpSpPr>
          <p:cNvPr id="70" name="Google Shape;70;p14"/>
          <p:cNvGrpSpPr/>
          <p:nvPr/>
        </p:nvGrpSpPr>
        <p:grpSpPr>
          <a:xfrm>
            <a:off x="2512925" y="2692171"/>
            <a:ext cx="196200" cy="1404905"/>
            <a:chOff x="2512925" y="2768371"/>
            <a:chExt cx="196200" cy="1404905"/>
          </a:xfrm>
        </p:grpSpPr>
        <p:cxnSp>
          <p:nvCxnSpPr>
            <p:cNvPr id="71" name="Google Shape;71;p14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type="none" w="sm"/>
              <a:tailEnd len="med" type="oval" w="med"/>
            </a:ln>
          </p:spPr>
        </p:cxnSp>
        <p:sp>
          <p:nvSpPr>
            <p:cNvPr id="72" name="Google Shape;72;p14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cap="none" i="0" strike="noStrike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14"/>
          <p:cNvSpPr txBox="1"/>
          <p:nvPr>
            <p:ph idx="2147483647" type="body"/>
          </p:nvPr>
        </p:nvSpPr>
        <p:spPr>
          <a:xfrm>
            <a:off x="2693150" y="3854675"/>
            <a:ext cx="2749800" cy="971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b="1" lang="en">
                <a:solidFill>
                  <a:schemeClr val="dk2"/>
                </a:solidFill>
              </a:rPr>
              <a:t>When was IoT Created?</a:t>
            </a:r>
            <a:endParaRPr b="1">
              <a:solidFill>
                <a:schemeClr val="dk2"/>
              </a:solidFill>
            </a:endParaRPr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grpSp>
        <p:nvGrpSpPr>
          <p:cNvPr id="74" name="Google Shape;74;p14"/>
          <p:cNvGrpSpPr/>
          <p:nvPr/>
        </p:nvGrpSpPr>
        <p:grpSpPr>
          <a:xfrm>
            <a:off x="4279200" y="1483171"/>
            <a:ext cx="196200" cy="1404900"/>
            <a:chOff x="4279200" y="1559371"/>
            <a:chExt cx="196200" cy="1404900"/>
          </a:xfrm>
        </p:grpSpPr>
        <p:cxnSp>
          <p:nvCxnSpPr>
            <p:cNvPr id="75" name="Google Shape;75;p14"/>
            <p:cNvCxnSpPr>
              <a:stCxn id="76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type="none" w="sm"/>
              <a:tailEnd len="med" type="oval" w="med"/>
            </a:ln>
          </p:spPr>
        </p:cxnSp>
        <p:sp>
          <p:nvSpPr>
            <p:cNvPr id="76" name="Google Shape;76;p14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cap="none" i="0" strike="noStrike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4"/>
          <p:cNvSpPr txBox="1"/>
          <p:nvPr>
            <p:ph idx="2147483647" type="body"/>
          </p:nvPr>
        </p:nvSpPr>
        <p:spPr>
          <a:xfrm>
            <a:off x="4454449" y="1299975"/>
            <a:ext cx="2662200" cy="971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b="1" lang="en">
                <a:solidFill>
                  <a:schemeClr val="dk2"/>
                </a:solidFill>
              </a:rPr>
              <a:t>IoT Example</a:t>
            </a:r>
            <a:endParaRPr b="1">
              <a:solidFill>
                <a:schemeClr val="dk2"/>
              </a:solidFill>
            </a:endParaRPr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78" name="Google Shape;78;p14"/>
          <p:cNvGrpSpPr/>
          <p:nvPr/>
        </p:nvGrpSpPr>
        <p:grpSpPr>
          <a:xfrm>
            <a:off x="6045475" y="2692171"/>
            <a:ext cx="196200" cy="1404905"/>
            <a:chOff x="6045475" y="2768371"/>
            <a:chExt cx="196200" cy="1404905"/>
          </a:xfrm>
        </p:grpSpPr>
        <p:cxnSp>
          <p:nvCxnSpPr>
            <p:cNvPr id="79" name="Google Shape;79;p14"/>
            <p:cNvCxnSpPr/>
            <p:nvPr/>
          </p:nvCxnSpPr>
          <p:spPr>
            <a:xfrm>
              <a:off x="614357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type="none" w="sm"/>
              <a:tailEnd len="med" type="oval" w="med"/>
            </a:ln>
          </p:spPr>
        </p:cxnSp>
        <p:sp>
          <p:nvSpPr>
            <p:cNvPr id="80" name="Google Shape;80;p14"/>
            <p:cNvSpPr/>
            <p:nvPr/>
          </p:nvSpPr>
          <p:spPr>
            <a:xfrm>
              <a:off x="60454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cap="none" i="0" strike="noStrike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4"/>
          <p:cNvSpPr txBox="1"/>
          <p:nvPr>
            <p:ph idx="2147483647" type="body"/>
          </p:nvPr>
        </p:nvSpPr>
        <p:spPr>
          <a:xfrm>
            <a:off x="6225720" y="3854675"/>
            <a:ext cx="2662200" cy="971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b="1" lang="en">
                <a:solidFill>
                  <a:schemeClr val="dk2"/>
                </a:solidFill>
              </a:rPr>
              <a:t>IoT Privacy Concerns</a:t>
            </a:r>
            <a:endParaRPr b="1">
              <a:solidFill>
                <a:schemeClr val="dk2"/>
              </a:solidFill>
            </a:endParaRPr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altLang="en" lang="en"/>
              <a:t>Skills &amp; expertise</a:t>
            </a:r>
            <a:endParaRPr/>
          </a:p>
        </p:txBody>
      </p:sp>
      <p:sp>
        <p:nvSpPr>
          <p:cNvPr id="87" name="Google Shape;87;p15"/>
          <p:cNvSpPr txBox="1"/>
          <p:nvPr>
            <p:ph idx="2" type="body"/>
          </p:nvPr>
        </p:nvSpPr>
        <p:spPr>
          <a:xfrm>
            <a:off x="4961950" y="549300"/>
            <a:ext cx="3837000" cy="40449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lang="en" sz="2100"/>
              <a:t>Internet of Things (</a:t>
            </a:r>
            <a:r>
              <a:rPr altLang="en" lang="en" sz="2100"/>
              <a:t>IoT) is internet connectivity and your devices connected to a cloud.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TVs - stream programs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Doorbells - cameras &amp; audio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Cell Phones - weather check</a:t>
            </a:r>
            <a:endParaRPr sz="2100"/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00" y="1085600"/>
            <a:ext cx="4405601" cy="312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altLang="en" lang="en"/>
              <a:t>Skills &amp; expertise</a:t>
            </a:r>
            <a:endParaRPr/>
          </a:p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4961950" y="549300"/>
            <a:ext cx="3908700" cy="40449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lang="en" sz="2100"/>
              <a:t>IoT was first created in the 1980s.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A coke machine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A graduate student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A need for cold coke</a:t>
            </a:r>
            <a:endParaRPr sz="2100"/>
          </a:p>
          <a:p>
            <a:pPr algn="l" indent="0" lvl="0" marL="457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2100"/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175" y="1597200"/>
            <a:ext cx="4712775" cy="203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altLang="en" lang="en"/>
              <a:t>Skills &amp; expertise</a:t>
            </a:r>
            <a:endParaRPr/>
          </a:p>
        </p:txBody>
      </p:sp>
      <p:sp>
        <p:nvSpPr>
          <p:cNvPr id="101" name="Google Shape;101;p17"/>
          <p:cNvSpPr txBox="1"/>
          <p:nvPr>
            <p:ph idx="2" type="body"/>
          </p:nvPr>
        </p:nvSpPr>
        <p:spPr>
          <a:xfrm>
            <a:off x="4961950" y="549300"/>
            <a:ext cx="3837000" cy="40449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lang="en" sz="2100"/>
              <a:t>IoT is already in many homes using routers, door bells, and security cameras.</a:t>
            </a:r>
            <a:endParaRPr sz="2100"/>
          </a:p>
          <a:p>
            <a:pPr algn="l" indent="0" lvl="0" marL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altLang="en" lang="en" sz="2100"/>
              <a:t>An example –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IoT connected doorbell</a:t>
            </a:r>
            <a:endParaRPr sz="2100"/>
          </a:p>
          <a:p>
            <a:pPr algn="l" indent="-3619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altLang="en" lang="en" sz="2100"/>
              <a:t>Talk to someone</a:t>
            </a:r>
            <a:endParaRPr sz="2100"/>
          </a:p>
          <a:p>
            <a:pPr algn="l" indent="-3619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altLang="en" lang="en" sz="2100"/>
              <a:t>Record the video</a:t>
            </a:r>
            <a:endParaRPr sz="2100"/>
          </a:p>
          <a:p>
            <a:pPr algn="l" indent="-3619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altLang="en" lang="en" sz="2100"/>
              <a:t>Store in the cloud</a:t>
            </a:r>
            <a:endParaRPr sz="2100"/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00" y="419100"/>
            <a:ext cx="42481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altLang="en" lang="en"/>
              <a:t>Skills &amp; expertise</a:t>
            </a:r>
            <a:endParaRPr/>
          </a:p>
        </p:txBody>
      </p:sp>
      <p:sp>
        <p:nvSpPr>
          <p:cNvPr id="108" name="Google Shape;108;p18"/>
          <p:cNvSpPr txBox="1"/>
          <p:nvPr>
            <p:ph idx="2" type="body"/>
          </p:nvPr>
        </p:nvSpPr>
        <p:spPr>
          <a:xfrm>
            <a:off x="4961950" y="549300"/>
            <a:ext cx="3837000" cy="40449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altLang="en" lang="en" sz="2100"/>
              <a:t>IoT privacy is a concern though.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Data from photos, family records, medical files, and more stored offsite</a:t>
            </a:r>
            <a:endParaRPr sz="2100"/>
          </a:p>
          <a:p>
            <a:pPr algn="l" indent="-3619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altLang="en" lang="en" sz="2100"/>
              <a:t>Connected devices in the home should be known like cell phones, TVs, and more</a:t>
            </a:r>
            <a:endParaRPr sz="2100"/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0" y="1776600"/>
            <a:ext cx="4564526" cy="16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altLang="en" lang="en"/>
              <a:t>Congratulations 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altLang="en" lang="en" sz="1600"/>
              <a:t>You have completed the first lesson in this course.</a:t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altLang="en" lang="en" sz="1600"/>
              <a:t>Are you ready for the next lesson?</a:t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altLang="en" lang="en" sz="1600"/>
              <a:t>If no, you will pick back up where you left off.</a:t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altLang="en" lang="en" sz="1600"/>
              <a:t>If yes, let’s warm up for the next lesson.</a:t>
            </a:r>
            <a:endParaRPr sz="1600"/>
          </a:p>
        </p:txBody>
      </p:sp>
      <p:pic>
        <p:nvPicPr>
          <p:cNvPr id="116" name="Google Shape;116;p19" title="Upward shot of Golden Gate Bridge against blue sky"/>
          <p:cNvPicPr preferRelativeResize="0"/>
          <p:nvPr/>
        </p:nvPicPr>
        <p:blipFill rotWithShape="1">
          <a:blip r:embed="rId3">
            <a:alphaModFix/>
          </a:blip>
          <a:srcRect b="0" l="19071" r="4852" t="9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555600"/>
            <a:ext cx="3027600" cy="755700"/>
          </a:xfrm>
          <a:prstGeom prst="rect">
            <a:avLst/>
          </a:prstGeom>
          <a:noFill/>
          <a:ln>
            <a:noFill/>
          </a:ln>
        </p:spPr>
        <p:txBody>
          <a:bodyPr anchor="b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altLang="en" lang="en"/>
              <a:t>Sample IoT Project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altLang="en" lang="en" sz="1600"/>
              <a:t>We will explore the world of IoT projects with you as a beginner.</a:t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altLang="en" lang="en" sz="1600"/>
              <a:t>There is no better way to fully understand IoT than to create your own solution.</a:t>
            </a:r>
            <a:endParaRPr sz="1600"/>
          </a:p>
          <a:p>
            <a:pPr algn="l" indent="0" lvl="0" marL="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rPr altLang="en" lang="en" sz="1600"/>
              <a:t>The project is optional and is not required to complete the course.</a:t>
            </a:r>
            <a:endParaRPr sz="1600"/>
          </a:p>
        </p:txBody>
      </p:sp>
      <p:pic>
        <p:nvPicPr>
          <p:cNvPr descr="Artistic overhead shot of caramel-colored coffee in a white mug on a red solid background" id="123" name="Google Shape;123;p20"/>
          <p:cNvPicPr preferRelativeResize="0"/>
          <p:nvPr/>
        </p:nvPicPr>
        <p:blipFill rotWithShape="1">
          <a:blip r:embed="rId3">
            <a:alphaModFix/>
          </a:blip>
          <a:srcRect b="2471" l="13499" r="15967" t="2471"/>
          <a:stretch/>
        </p:blipFill>
        <p:spPr>
          <a:xfrm>
            <a:off x="6356200" y="3301320"/>
            <a:ext cx="1851925" cy="140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150" y="324600"/>
            <a:ext cx="38909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160" y="3301325"/>
            <a:ext cx="1889680" cy="14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altLang="en" lang="en"/>
              <a:t>Hi, I’m Kevin Love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altLang="en" lang="en" sz="2150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 innovative, passionate, and experienced IT professional with a strong track record of building relationships, managing projects from concept to completion, designing training, single-sourcing software documentation for reuse, and organizational development programs (in person, virtual, and online) to leverage business operations to enhance performance for customers in the IoT space.</a:t>
            </a:r>
            <a:endParaRPr sz="2900"/>
          </a:p>
        </p:txBody>
      </p:sp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75" y="3618550"/>
            <a:ext cx="1517349" cy="15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